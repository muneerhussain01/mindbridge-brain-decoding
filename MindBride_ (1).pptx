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148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8347BD-99E0-4E74-9644-3FBD5482BA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FF00C9-262E-4D0F-8ED9-3B2DB587B301}">
      <dgm:prSet/>
      <dgm:spPr/>
      <dgm:t>
        <a:bodyPr/>
        <a:lstStyle/>
        <a:p>
          <a:r>
            <a:rPr lang="en-US" b="1"/>
            <a:t>Dataset: </a:t>
          </a:r>
          <a:r>
            <a:rPr lang="en-US"/>
            <a:t>OpenNeuro ds000228 Pixar Movie-Watching (5 subjects).</a:t>
          </a:r>
        </a:p>
      </dgm:t>
    </dgm:pt>
    <dgm:pt modelId="{9074A128-9F0C-44AA-8593-3EBA12C397D3}" type="parTrans" cxnId="{B850ECF7-D7D9-489F-81AB-07E2DE37F185}">
      <dgm:prSet/>
      <dgm:spPr/>
      <dgm:t>
        <a:bodyPr/>
        <a:lstStyle/>
        <a:p>
          <a:endParaRPr lang="en-US"/>
        </a:p>
      </dgm:t>
    </dgm:pt>
    <dgm:pt modelId="{358C01BA-5F8D-4E91-A523-0C22F1D4722B}" type="sibTrans" cxnId="{B850ECF7-D7D9-489F-81AB-07E2DE37F185}">
      <dgm:prSet/>
      <dgm:spPr/>
      <dgm:t>
        <a:bodyPr/>
        <a:lstStyle/>
        <a:p>
          <a:endParaRPr lang="en-US"/>
        </a:p>
      </dgm:t>
    </dgm:pt>
    <dgm:pt modelId="{D11DA2B5-886F-477E-8987-AB3965C948FF}">
      <dgm:prSet/>
      <dgm:spPr/>
      <dgm:t>
        <a:bodyPr/>
        <a:lstStyle/>
        <a:p>
          <a:r>
            <a:rPr lang="en-US" b="1"/>
            <a:t>Preprocessing Pipeline:</a:t>
          </a:r>
          <a:endParaRPr lang="en-US"/>
        </a:p>
      </dgm:t>
    </dgm:pt>
    <dgm:pt modelId="{375C2D3C-D802-42FE-983E-254726B8EC90}" type="parTrans" cxnId="{D164E081-8381-430F-9739-4E5C6AC04EF6}">
      <dgm:prSet/>
      <dgm:spPr/>
      <dgm:t>
        <a:bodyPr/>
        <a:lstStyle/>
        <a:p>
          <a:endParaRPr lang="en-US"/>
        </a:p>
      </dgm:t>
    </dgm:pt>
    <dgm:pt modelId="{FCBF5416-AD45-4B19-B793-1C4E0BD5CED6}" type="sibTrans" cxnId="{D164E081-8381-430F-9739-4E5C6AC04EF6}">
      <dgm:prSet/>
      <dgm:spPr/>
      <dgm:t>
        <a:bodyPr/>
        <a:lstStyle/>
        <a:p>
          <a:endParaRPr lang="en-US"/>
        </a:p>
      </dgm:t>
    </dgm:pt>
    <dgm:pt modelId="{BF92BCC8-12A6-404C-9CC9-591C9B245023}">
      <dgm:prSet/>
      <dgm:spPr/>
      <dgm:t>
        <a:bodyPr/>
        <a:lstStyle/>
        <a:p>
          <a:r>
            <a:rPr lang="en-US" b="1"/>
            <a:t>EPI Masking: </a:t>
          </a:r>
          <a:r>
            <a:rPr lang="en-US"/>
            <a:t>Isolating 40,000 brain voxels.</a:t>
          </a:r>
        </a:p>
      </dgm:t>
    </dgm:pt>
    <dgm:pt modelId="{B9C620FA-BCBC-46D4-A9EF-CDE527E13D69}" type="parTrans" cxnId="{106A5E2E-A904-4C8C-A9D1-DBD8231B2FE2}">
      <dgm:prSet/>
      <dgm:spPr/>
      <dgm:t>
        <a:bodyPr/>
        <a:lstStyle/>
        <a:p>
          <a:endParaRPr lang="en-US"/>
        </a:p>
      </dgm:t>
    </dgm:pt>
    <dgm:pt modelId="{29907274-F894-4635-AB75-7636641FCA83}" type="sibTrans" cxnId="{106A5E2E-A904-4C8C-A9D1-DBD8231B2FE2}">
      <dgm:prSet/>
      <dgm:spPr/>
      <dgm:t>
        <a:bodyPr/>
        <a:lstStyle/>
        <a:p>
          <a:endParaRPr lang="en-US"/>
        </a:p>
      </dgm:t>
    </dgm:pt>
    <dgm:pt modelId="{8E77677C-AE93-4584-96A9-1D456DE0FA93}">
      <dgm:prSet/>
      <dgm:spPr/>
      <dgm:t>
        <a:bodyPr/>
        <a:lstStyle/>
        <a:p>
          <a:r>
            <a:rPr lang="en-US" b="1"/>
            <a:t>High-Pass Filtering: </a:t>
          </a:r>
          <a:r>
            <a:rPr lang="en-US"/>
            <a:t>Removing artifacts below 0.01 Hz.</a:t>
          </a:r>
        </a:p>
      </dgm:t>
    </dgm:pt>
    <dgm:pt modelId="{C4072B21-DB19-45EE-B836-874BDA3FC101}" type="parTrans" cxnId="{0A24243F-232E-4C86-AAF5-F3393F914DFB}">
      <dgm:prSet/>
      <dgm:spPr/>
      <dgm:t>
        <a:bodyPr/>
        <a:lstStyle/>
        <a:p>
          <a:endParaRPr lang="en-US"/>
        </a:p>
      </dgm:t>
    </dgm:pt>
    <dgm:pt modelId="{F04766EE-9ADE-4AF2-AA76-CA4AC7FED948}" type="sibTrans" cxnId="{0A24243F-232E-4C86-AAF5-F3393F914DFB}">
      <dgm:prSet/>
      <dgm:spPr/>
      <dgm:t>
        <a:bodyPr/>
        <a:lstStyle/>
        <a:p>
          <a:endParaRPr lang="en-US"/>
        </a:p>
      </dgm:t>
    </dgm:pt>
    <dgm:pt modelId="{08528EF3-C5EF-426F-B94D-ED9FAE871F01}">
      <dgm:prSet/>
      <dgm:spPr/>
      <dgm:t>
        <a:bodyPr/>
        <a:lstStyle/>
        <a:p>
          <a:r>
            <a:rPr lang="en-US" b="1"/>
            <a:t>Normalization: </a:t>
          </a:r>
          <a:r>
            <a:rPr lang="en-US"/>
            <a:t>Voxel-wise Z-scoring.</a:t>
          </a:r>
        </a:p>
      </dgm:t>
    </dgm:pt>
    <dgm:pt modelId="{D5438361-DD61-490B-9C98-F06E137F5272}" type="parTrans" cxnId="{08600764-7409-4C0D-B937-4687A1BF0957}">
      <dgm:prSet/>
      <dgm:spPr/>
      <dgm:t>
        <a:bodyPr/>
        <a:lstStyle/>
        <a:p>
          <a:endParaRPr lang="en-US"/>
        </a:p>
      </dgm:t>
    </dgm:pt>
    <dgm:pt modelId="{2E09D075-22CB-45A8-90F7-33F644824EE0}" type="sibTrans" cxnId="{08600764-7409-4C0D-B937-4687A1BF0957}">
      <dgm:prSet/>
      <dgm:spPr/>
      <dgm:t>
        <a:bodyPr/>
        <a:lstStyle/>
        <a:p>
          <a:endParaRPr lang="en-US"/>
        </a:p>
      </dgm:t>
    </dgm:pt>
    <dgm:pt modelId="{B1D6D9B7-EA93-40AD-92A2-FFBF17307474}">
      <dgm:prSet/>
      <dgm:spPr/>
      <dgm:t>
        <a:bodyPr/>
        <a:lstStyle/>
        <a:p>
          <a:r>
            <a:rPr lang="en-US" b="1"/>
            <a:t>Temporal Trimming: </a:t>
          </a:r>
          <a:r>
            <a:rPr lang="en-US"/>
            <a:t>Stabilizing signals.</a:t>
          </a:r>
        </a:p>
      </dgm:t>
    </dgm:pt>
    <dgm:pt modelId="{608834B4-F950-4BB5-9C7E-1DAAFA741666}" type="parTrans" cxnId="{2BB74D73-DC13-4CBF-B685-4285FCDF5D8C}">
      <dgm:prSet/>
      <dgm:spPr/>
      <dgm:t>
        <a:bodyPr/>
        <a:lstStyle/>
        <a:p>
          <a:endParaRPr lang="en-US"/>
        </a:p>
      </dgm:t>
    </dgm:pt>
    <dgm:pt modelId="{20FAE9F3-003E-44BA-963C-CEE09A592081}" type="sibTrans" cxnId="{2BB74D73-DC13-4CBF-B685-4285FCDF5D8C}">
      <dgm:prSet/>
      <dgm:spPr/>
      <dgm:t>
        <a:bodyPr/>
        <a:lstStyle/>
        <a:p>
          <a:endParaRPr lang="en-US"/>
        </a:p>
      </dgm:t>
    </dgm:pt>
    <dgm:pt modelId="{A2FBFECC-9C1B-4919-81CF-AC1D98C82D03}" type="pres">
      <dgm:prSet presAssocID="{1A8347BD-99E0-4E74-9644-3FBD5482BA52}" presName="linear" presStyleCnt="0">
        <dgm:presLayoutVars>
          <dgm:animLvl val="lvl"/>
          <dgm:resizeHandles val="exact"/>
        </dgm:presLayoutVars>
      </dgm:prSet>
      <dgm:spPr/>
    </dgm:pt>
    <dgm:pt modelId="{3C6E88A4-C096-4C45-8520-AEB91F0EC192}" type="pres">
      <dgm:prSet presAssocID="{5CFF00C9-262E-4D0F-8ED9-3B2DB587B3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410A27C-3DB0-4F50-A48D-E8661B71B547}" type="pres">
      <dgm:prSet presAssocID="{358C01BA-5F8D-4E91-A523-0C22F1D4722B}" presName="spacer" presStyleCnt="0"/>
      <dgm:spPr/>
    </dgm:pt>
    <dgm:pt modelId="{C2D94A7A-2F11-4EBF-8617-52C419A492A0}" type="pres">
      <dgm:prSet presAssocID="{D11DA2B5-886F-477E-8987-AB3965C948F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D65D93F-253D-460A-8E3C-0DB42873A6D2}" type="pres">
      <dgm:prSet presAssocID="{D11DA2B5-886F-477E-8987-AB3965C948F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7383507-40CB-4E0F-A77F-A54AD3F117D9}" type="presOf" srcId="{D11DA2B5-886F-477E-8987-AB3965C948FF}" destId="{C2D94A7A-2F11-4EBF-8617-52C419A492A0}" srcOrd="0" destOrd="0" presId="urn:microsoft.com/office/officeart/2005/8/layout/vList2"/>
    <dgm:cxn modelId="{106A5E2E-A904-4C8C-A9D1-DBD8231B2FE2}" srcId="{D11DA2B5-886F-477E-8987-AB3965C948FF}" destId="{BF92BCC8-12A6-404C-9CC9-591C9B245023}" srcOrd="0" destOrd="0" parTransId="{B9C620FA-BCBC-46D4-A9EF-CDE527E13D69}" sibTransId="{29907274-F894-4635-AB75-7636641FCA83}"/>
    <dgm:cxn modelId="{0A24243F-232E-4C86-AAF5-F3393F914DFB}" srcId="{D11DA2B5-886F-477E-8987-AB3965C948FF}" destId="{8E77677C-AE93-4584-96A9-1D456DE0FA93}" srcOrd="1" destOrd="0" parTransId="{C4072B21-DB19-45EE-B836-874BDA3FC101}" sibTransId="{F04766EE-9ADE-4AF2-AA76-CA4AC7FED948}"/>
    <dgm:cxn modelId="{08600764-7409-4C0D-B937-4687A1BF0957}" srcId="{D11DA2B5-886F-477E-8987-AB3965C948FF}" destId="{08528EF3-C5EF-426F-B94D-ED9FAE871F01}" srcOrd="2" destOrd="0" parTransId="{D5438361-DD61-490B-9C98-F06E137F5272}" sibTransId="{2E09D075-22CB-45A8-90F7-33F644824EE0}"/>
    <dgm:cxn modelId="{6A2A5644-BCD7-48CD-ADB6-31A27EB1F31E}" type="presOf" srcId="{8E77677C-AE93-4584-96A9-1D456DE0FA93}" destId="{CD65D93F-253D-460A-8E3C-0DB42873A6D2}" srcOrd="0" destOrd="1" presId="urn:microsoft.com/office/officeart/2005/8/layout/vList2"/>
    <dgm:cxn modelId="{6A07DE4B-A0CE-46B1-B45C-4FD3795B901F}" type="presOf" srcId="{BF92BCC8-12A6-404C-9CC9-591C9B245023}" destId="{CD65D93F-253D-460A-8E3C-0DB42873A6D2}" srcOrd="0" destOrd="0" presId="urn:microsoft.com/office/officeart/2005/8/layout/vList2"/>
    <dgm:cxn modelId="{2BB74D73-DC13-4CBF-B685-4285FCDF5D8C}" srcId="{D11DA2B5-886F-477E-8987-AB3965C948FF}" destId="{B1D6D9B7-EA93-40AD-92A2-FFBF17307474}" srcOrd="3" destOrd="0" parTransId="{608834B4-F950-4BB5-9C7E-1DAAFA741666}" sibTransId="{20FAE9F3-003E-44BA-963C-CEE09A592081}"/>
    <dgm:cxn modelId="{D164E081-8381-430F-9739-4E5C6AC04EF6}" srcId="{1A8347BD-99E0-4E74-9644-3FBD5482BA52}" destId="{D11DA2B5-886F-477E-8987-AB3965C948FF}" srcOrd="1" destOrd="0" parTransId="{375C2D3C-D802-42FE-983E-254726B8EC90}" sibTransId="{FCBF5416-AD45-4B19-B793-1C4E0BD5CED6}"/>
    <dgm:cxn modelId="{A3869B82-6A49-4D20-B887-CEDC839B80C4}" type="presOf" srcId="{B1D6D9B7-EA93-40AD-92A2-FFBF17307474}" destId="{CD65D93F-253D-460A-8E3C-0DB42873A6D2}" srcOrd="0" destOrd="3" presId="urn:microsoft.com/office/officeart/2005/8/layout/vList2"/>
    <dgm:cxn modelId="{788A8783-D194-4EC3-9CA0-D3660B52469D}" type="presOf" srcId="{1A8347BD-99E0-4E74-9644-3FBD5482BA52}" destId="{A2FBFECC-9C1B-4919-81CF-AC1D98C82D03}" srcOrd="0" destOrd="0" presId="urn:microsoft.com/office/officeart/2005/8/layout/vList2"/>
    <dgm:cxn modelId="{C67301A5-69D9-480F-9747-A2BA80E989E5}" type="presOf" srcId="{08528EF3-C5EF-426F-B94D-ED9FAE871F01}" destId="{CD65D93F-253D-460A-8E3C-0DB42873A6D2}" srcOrd="0" destOrd="2" presId="urn:microsoft.com/office/officeart/2005/8/layout/vList2"/>
    <dgm:cxn modelId="{B850ECF7-D7D9-489F-81AB-07E2DE37F185}" srcId="{1A8347BD-99E0-4E74-9644-3FBD5482BA52}" destId="{5CFF00C9-262E-4D0F-8ED9-3B2DB587B301}" srcOrd="0" destOrd="0" parTransId="{9074A128-9F0C-44AA-8593-3EBA12C397D3}" sibTransId="{358C01BA-5F8D-4E91-A523-0C22F1D4722B}"/>
    <dgm:cxn modelId="{6C3BAEFF-22FA-4DA2-B565-EFF678E6879C}" type="presOf" srcId="{5CFF00C9-262E-4D0F-8ED9-3B2DB587B301}" destId="{3C6E88A4-C096-4C45-8520-AEB91F0EC192}" srcOrd="0" destOrd="0" presId="urn:microsoft.com/office/officeart/2005/8/layout/vList2"/>
    <dgm:cxn modelId="{932815C5-113C-45F7-A1D6-9EFB0AB9E184}" type="presParOf" srcId="{A2FBFECC-9C1B-4919-81CF-AC1D98C82D03}" destId="{3C6E88A4-C096-4C45-8520-AEB91F0EC192}" srcOrd="0" destOrd="0" presId="urn:microsoft.com/office/officeart/2005/8/layout/vList2"/>
    <dgm:cxn modelId="{9E3B4A64-4A76-48B0-ACF4-B515D046F022}" type="presParOf" srcId="{A2FBFECC-9C1B-4919-81CF-AC1D98C82D03}" destId="{5410A27C-3DB0-4F50-A48D-E8661B71B547}" srcOrd="1" destOrd="0" presId="urn:microsoft.com/office/officeart/2005/8/layout/vList2"/>
    <dgm:cxn modelId="{BD9B5FA3-490D-4C18-89A7-C9E3E4E97B92}" type="presParOf" srcId="{A2FBFECC-9C1B-4919-81CF-AC1D98C82D03}" destId="{C2D94A7A-2F11-4EBF-8617-52C419A492A0}" srcOrd="2" destOrd="0" presId="urn:microsoft.com/office/officeart/2005/8/layout/vList2"/>
    <dgm:cxn modelId="{6929F904-9650-4A8A-B73D-884560AD66F6}" type="presParOf" srcId="{A2FBFECC-9C1B-4919-81CF-AC1D98C82D03}" destId="{CD65D93F-253D-460A-8E3C-0DB42873A6D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DF5711-9B43-4F31-BAE2-015DBD81E7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14AAE5-CDF7-4714-BE7F-258D80CD56DC}">
      <dgm:prSet/>
      <dgm:spPr/>
      <dgm:t>
        <a:bodyPr/>
        <a:lstStyle/>
        <a:p>
          <a:r>
            <a:rPr lang="en-US"/>
            <a:t>Successfully compressed high-dimensional fMRI data into a 64-D latent space</a:t>
          </a:r>
        </a:p>
      </dgm:t>
    </dgm:pt>
    <dgm:pt modelId="{AC071967-FBF8-4523-9B0A-1FA7E5F39D00}" type="parTrans" cxnId="{CB306313-237A-436D-90A7-2DAD227EA3AB}">
      <dgm:prSet/>
      <dgm:spPr/>
      <dgm:t>
        <a:bodyPr/>
        <a:lstStyle/>
        <a:p>
          <a:endParaRPr lang="en-US"/>
        </a:p>
      </dgm:t>
    </dgm:pt>
    <dgm:pt modelId="{9484BF9D-BCC4-4377-8519-4E7D8585EB22}" type="sibTrans" cxnId="{CB306313-237A-436D-90A7-2DAD227EA3AB}">
      <dgm:prSet/>
      <dgm:spPr/>
      <dgm:t>
        <a:bodyPr/>
        <a:lstStyle/>
        <a:p>
          <a:endParaRPr lang="en-US"/>
        </a:p>
      </dgm:t>
    </dgm:pt>
    <dgm:pt modelId="{5C71CEEE-595B-4C87-8702-253C4FE8DA03}">
      <dgm:prSet/>
      <dgm:spPr/>
      <dgm:t>
        <a:bodyPr/>
        <a:lstStyle/>
        <a:p>
          <a:r>
            <a:rPr lang="en-US"/>
            <a:t>Achieved strong cross-subject alignment (MSE ≈ 0.001)</a:t>
          </a:r>
        </a:p>
      </dgm:t>
    </dgm:pt>
    <dgm:pt modelId="{B7F601A0-9CF9-4E00-930C-18FA4494F1B2}" type="parTrans" cxnId="{88D7AC9F-B29D-4F31-970B-525C10B81FC9}">
      <dgm:prSet/>
      <dgm:spPr/>
      <dgm:t>
        <a:bodyPr/>
        <a:lstStyle/>
        <a:p>
          <a:endParaRPr lang="en-US"/>
        </a:p>
      </dgm:t>
    </dgm:pt>
    <dgm:pt modelId="{DA1A16E0-B084-4720-8E67-D9CF0219E2FA}" type="sibTrans" cxnId="{88D7AC9F-B29D-4F31-970B-525C10B81FC9}">
      <dgm:prSet/>
      <dgm:spPr/>
      <dgm:t>
        <a:bodyPr/>
        <a:lstStyle/>
        <a:p>
          <a:endParaRPr lang="en-US"/>
        </a:p>
      </dgm:t>
    </dgm:pt>
    <dgm:pt modelId="{C09E0CC8-9851-408F-8C4F-E496BDED8B4D}">
      <dgm:prSet/>
      <dgm:spPr/>
      <dgm:t>
        <a:bodyPr/>
        <a:lstStyle/>
        <a:p>
          <a:r>
            <a:rPr lang="en-US"/>
            <a:t>Demonstrated that latent representations can be aligned across individuals</a:t>
          </a:r>
        </a:p>
      </dgm:t>
    </dgm:pt>
    <dgm:pt modelId="{6B8B5FCE-2961-461B-9F55-41500228F180}" type="parTrans" cxnId="{A20497B3-820E-4379-B3D0-A534F943451C}">
      <dgm:prSet/>
      <dgm:spPr/>
      <dgm:t>
        <a:bodyPr/>
        <a:lstStyle/>
        <a:p>
          <a:endParaRPr lang="en-US"/>
        </a:p>
      </dgm:t>
    </dgm:pt>
    <dgm:pt modelId="{923B05C8-5AFA-4AE7-B4F7-140540AAA496}" type="sibTrans" cxnId="{A20497B3-820E-4379-B3D0-A534F943451C}">
      <dgm:prSet/>
      <dgm:spPr/>
      <dgm:t>
        <a:bodyPr/>
        <a:lstStyle/>
        <a:p>
          <a:endParaRPr lang="en-US"/>
        </a:p>
      </dgm:t>
    </dgm:pt>
    <dgm:pt modelId="{857AEEC6-DFAD-484C-9CA4-33A468F7EFED}">
      <dgm:prSet/>
      <dgm:spPr/>
      <dgm:t>
        <a:bodyPr/>
        <a:lstStyle/>
        <a:p>
          <a:r>
            <a:rPr lang="en-US"/>
            <a:t>However, decoding performance remained near chance level</a:t>
          </a:r>
        </a:p>
      </dgm:t>
    </dgm:pt>
    <dgm:pt modelId="{D0A7D4E8-7E7E-4555-966C-8A9BE2D9DEC7}" type="parTrans" cxnId="{60FBCF22-BADE-4376-BC09-C61CE813DAD8}">
      <dgm:prSet/>
      <dgm:spPr/>
      <dgm:t>
        <a:bodyPr/>
        <a:lstStyle/>
        <a:p>
          <a:endParaRPr lang="en-US"/>
        </a:p>
      </dgm:t>
    </dgm:pt>
    <dgm:pt modelId="{DEF08A3D-69B9-4794-93D4-A58A12CCD3E4}" type="sibTrans" cxnId="{60FBCF22-BADE-4376-BC09-C61CE813DAD8}">
      <dgm:prSet/>
      <dgm:spPr/>
      <dgm:t>
        <a:bodyPr/>
        <a:lstStyle/>
        <a:p>
          <a:endParaRPr lang="en-US"/>
        </a:p>
      </dgm:t>
    </dgm:pt>
    <dgm:pt modelId="{176208E5-7E3E-4173-85DF-4BFEE96370B7}">
      <dgm:prSet/>
      <dgm:spPr/>
      <dgm:t>
        <a:bodyPr/>
        <a:lstStyle/>
        <a:p>
          <a:r>
            <a:rPr lang="en-US"/>
            <a:t>Alignment alone is not sufficient for meaningful semantic decoding</a:t>
          </a:r>
        </a:p>
      </dgm:t>
    </dgm:pt>
    <dgm:pt modelId="{31024BF9-BFB7-4097-B3C2-12E6CFB05CA8}" type="parTrans" cxnId="{C6F7FA45-65C2-4656-B700-266554DAADF6}">
      <dgm:prSet/>
      <dgm:spPr/>
      <dgm:t>
        <a:bodyPr/>
        <a:lstStyle/>
        <a:p>
          <a:endParaRPr lang="en-US"/>
        </a:p>
      </dgm:t>
    </dgm:pt>
    <dgm:pt modelId="{AA5DB1E6-A5D6-484E-9F76-6E4B601F7BA3}" type="sibTrans" cxnId="{C6F7FA45-65C2-4656-B700-266554DAADF6}">
      <dgm:prSet/>
      <dgm:spPr/>
      <dgm:t>
        <a:bodyPr/>
        <a:lstStyle/>
        <a:p>
          <a:endParaRPr lang="en-US"/>
        </a:p>
      </dgm:t>
    </dgm:pt>
    <dgm:pt modelId="{7A23A503-0A34-4D72-921A-1D3D782B0515}">
      <dgm:prSet/>
      <dgm:spPr/>
      <dgm:t>
        <a:bodyPr/>
        <a:lstStyle/>
        <a:p>
          <a:r>
            <a:rPr lang="en-US"/>
            <a:t>Stronger supervision and richer labels are needed in future work</a:t>
          </a:r>
        </a:p>
      </dgm:t>
    </dgm:pt>
    <dgm:pt modelId="{272798CA-B1D1-4E1B-ADDA-369ADE5735C7}" type="parTrans" cxnId="{565FB160-872B-479D-99C9-2955FD35AC50}">
      <dgm:prSet/>
      <dgm:spPr/>
      <dgm:t>
        <a:bodyPr/>
        <a:lstStyle/>
        <a:p>
          <a:endParaRPr lang="en-US"/>
        </a:p>
      </dgm:t>
    </dgm:pt>
    <dgm:pt modelId="{526265FD-9C25-4417-AA92-9C49FBA3211D}" type="sibTrans" cxnId="{565FB160-872B-479D-99C9-2955FD35AC50}">
      <dgm:prSet/>
      <dgm:spPr/>
      <dgm:t>
        <a:bodyPr/>
        <a:lstStyle/>
        <a:p>
          <a:endParaRPr lang="en-US"/>
        </a:p>
      </dgm:t>
    </dgm:pt>
    <dgm:pt modelId="{A43B7024-38A5-42C4-943A-8DA470ABBE91}" type="pres">
      <dgm:prSet presAssocID="{70DF5711-9B43-4F31-BAE2-015DBD81E76C}" presName="linear" presStyleCnt="0">
        <dgm:presLayoutVars>
          <dgm:animLvl val="lvl"/>
          <dgm:resizeHandles val="exact"/>
        </dgm:presLayoutVars>
      </dgm:prSet>
      <dgm:spPr/>
    </dgm:pt>
    <dgm:pt modelId="{D945D60E-F0C4-4896-8D02-2AA578AC2504}" type="pres">
      <dgm:prSet presAssocID="{8E14AAE5-CDF7-4714-BE7F-258D80CD56D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22C859A-56E6-4167-B681-06001308DA36}" type="pres">
      <dgm:prSet presAssocID="{9484BF9D-BCC4-4377-8519-4E7D8585EB22}" presName="spacer" presStyleCnt="0"/>
      <dgm:spPr/>
    </dgm:pt>
    <dgm:pt modelId="{5937697D-32BE-4A0E-8562-CB79ED749E67}" type="pres">
      <dgm:prSet presAssocID="{5C71CEEE-595B-4C87-8702-253C4FE8DA0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06FCC85-3324-4DBD-8B34-0093013A516C}" type="pres">
      <dgm:prSet presAssocID="{DA1A16E0-B084-4720-8E67-D9CF0219E2FA}" presName="spacer" presStyleCnt="0"/>
      <dgm:spPr/>
    </dgm:pt>
    <dgm:pt modelId="{0DD86FCC-7D6A-45C1-A618-6C8153D642BD}" type="pres">
      <dgm:prSet presAssocID="{C09E0CC8-9851-408F-8C4F-E496BDED8B4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C35F9FA-255C-40ED-A0A8-D9266D65D3F6}" type="pres">
      <dgm:prSet presAssocID="{923B05C8-5AFA-4AE7-B4F7-140540AAA496}" presName="spacer" presStyleCnt="0"/>
      <dgm:spPr/>
    </dgm:pt>
    <dgm:pt modelId="{D4A756DD-4727-4635-99AE-4D0F66082B5E}" type="pres">
      <dgm:prSet presAssocID="{857AEEC6-DFAD-484C-9CA4-33A468F7EFE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E725320-4129-4F6E-8655-E44F52D597A9}" type="pres">
      <dgm:prSet presAssocID="{DEF08A3D-69B9-4794-93D4-A58A12CCD3E4}" presName="spacer" presStyleCnt="0"/>
      <dgm:spPr/>
    </dgm:pt>
    <dgm:pt modelId="{806505C0-1695-4DEE-929D-FACD51BD1B29}" type="pres">
      <dgm:prSet presAssocID="{176208E5-7E3E-4173-85DF-4BFEE96370B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3310E0F-77E3-44F4-B485-93BED2062EDB}" type="pres">
      <dgm:prSet presAssocID="{AA5DB1E6-A5D6-484E-9F76-6E4B601F7BA3}" presName="spacer" presStyleCnt="0"/>
      <dgm:spPr/>
    </dgm:pt>
    <dgm:pt modelId="{9207B1C6-F43B-4C4F-A835-A1AD8FC2C18F}" type="pres">
      <dgm:prSet presAssocID="{7A23A503-0A34-4D72-921A-1D3D782B051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B306313-237A-436D-90A7-2DAD227EA3AB}" srcId="{70DF5711-9B43-4F31-BAE2-015DBD81E76C}" destId="{8E14AAE5-CDF7-4714-BE7F-258D80CD56DC}" srcOrd="0" destOrd="0" parTransId="{AC071967-FBF8-4523-9B0A-1FA7E5F39D00}" sibTransId="{9484BF9D-BCC4-4377-8519-4E7D8585EB22}"/>
    <dgm:cxn modelId="{60FBCF22-BADE-4376-BC09-C61CE813DAD8}" srcId="{70DF5711-9B43-4F31-BAE2-015DBD81E76C}" destId="{857AEEC6-DFAD-484C-9CA4-33A468F7EFED}" srcOrd="3" destOrd="0" parTransId="{D0A7D4E8-7E7E-4555-966C-8A9BE2D9DEC7}" sibTransId="{DEF08A3D-69B9-4794-93D4-A58A12CCD3E4}"/>
    <dgm:cxn modelId="{2615B838-5B9E-4305-B197-C4B07A9A1E25}" type="presOf" srcId="{7A23A503-0A34-4D72-921A-1D3D782B0515}" destId="{9207B1C6-F43B-4C4F-A835-A1AD8FC2C18F}" srcOrd="0" destOrd="0" presId="urn:microsoft.com/office/officeart/2005/8/layout/vList2"/>
    <dgm:cxn modelId="{565FB160-872B-479D-99C9-2955FD35AC50}" srcId="{70DF5711-9B43-4F31-BAE2-015DBD81E76C}" destId="{7A23A503-0A34-4D72-921A-1D3D782B0515}" srcOrd="5" destOrd="0" parTransId="{272798CA-B1D1-4E1B-ADDA-369ADE5735C7}" sibTransId="{526265FD-9C25-4417-AA92-9C49FBA3211D}"/>
    <dgm:cxn modelId="{C6F7FA45-65C2-4656-B700-266554DAADF6}" srcId="{70DF5711-9B43-4F31-BAE2-015DBD81E76C}" destId="{176208E5-7E3E-4173-85DF-4BFEE96370B7}" srcOrd="4" destOrd="0" parTransId="{31024BF9-BFB7-4097-B3C2-12E6CFB05CA8}" sibTransId="{AA5DB1E6-A5D6-484E-9F76-6E4B601F7BA3}"/>
    <dgm:cxn modelId="{C6C78878-E268-4044-A09E-C974782B05F2}" type="presOf" srcId="{70DF5711-9B43-4F31-BAE2-015DBD81E76C}" destId="{A43B7024-38A5-42C4-943A-8DA470ABBE91}" srcOrd="0" destOrd="0" presId="urn:microsoft.com/office/officeart/2005/8/layout/vList2"/>
    <dgm:cxn modelId="{1BB5B359-3B5F-4E86-852E-9E5768D0ED94}" type="presOf" srcId="{5C71CEEE-595B-4C87-8702-253C4FE8DA03}" destId="{5937697D-32BE-4A0E-8562-CB79ED749E67}" srcOrd="0" destOrd="0" presId="urn:microsoft.com/office/officeart/2005/8/layout/vList2"/>
    <dgm:cxn modelId="{88D7AC9F-B29D-4F31-970B-525C10B81FC9}" srcId="{70DF5711-9B43-4F31-BAE2-015DBD81E76C}" destId="{5C71CEEE-595B-4C87-8702-253C4FE8DA03}" srcOrd="1" destOrd="0" parTransId="{B7F601A0-9CF9-4E00-930C-18FA4494F1B2}" sibTransId="{DA1A16E0-B084-4720-8E67-D9CF0219E2FA}"/>
    <dgm:cxn modelId="{EBC17DAF-606A-41F7-AAEE-45F1A1C6BD4A}" type="presOf" srcId="{8E14AAE5-CDF7-4714-BE7F-258D80CD56DC}" destId="{D945D60E-F0C4-4896-8D02-2AA578AC2504}" srcOrd="0" destOrd="0" presId="urn:microsoft.com/office/officeart/2005/8/layout/vList2"/>
    <dgm:cxn modelId="{3A50C0B2-E08C-4604-B280-EF803C4FB015}" type="presOf" srcId="{C09E0CC8-9851-408F-8C4F-E496BDED8B4D}" destId="{0DD86FCC-7D6A-45C1-A618-6C8153D642BD}" srcOrd="0" destOrd="0" presId="urn:microsoft.com/office/officeart/2005/8/layout/vList2"/>
    <dgm:cxn modelId="{A20497B3-820E-4379-B3D0-A534F943451C}" srcId="{70DF5711-9B43-4F31-BAE2-015DBD81E76C}" destId="{C09E0CC8-9851-408F-8C4F-E496BDED8B4D}" srcOrd="2" destOrd="0" parTransId="{6B8B5FCE-2961-461B-9F55-41500228F180}" sibTransId="{923B05C8-5AFA-4AE7-B4F7-140540AAA496}"/>
    <dgm:cxn modelId="{980FD7CD-F819-4BFC-BCFA-EF75C1E26B98}" type="presOf" srcId="{176208E5-7E3E-4173-85DF-4BFEE96370B7}" destId="{806505C0-1695-4DEE-929D-FACD51BD1B29}" srcOrd="0" destOrd="0" presId="urn:microsoft.com/office/officeart/2005/8/layout/vList2"/>
    <dgm:cxn modelId="{CB6A3CF0-6698-4CC7-B239-D89A2C5BA0EC}" type="presOf" srcId="{857AEEC6-DFAD-484C-9CA4-33A468F7EFED}" destId="{D4A756DD-4727-4635-99AE-4D0F66082B5E}" srcOrd="0" destOrd="0" presId="urn:microsoft.com/office/officeart/2005/8/layout/vList2"/>
    <dgm:cxn modelId="{08E28BE8-65EE-470B-BACC-9BD84DB94DFE}" type="presParOf" srcId="{A43B7024-38A5-42C4-943A-8DA470ABBE91}" destId="{D945D60E-F0C4-4896-8D02-2AA578AC2504}" srcOrd="0" destOrd="0" presId="urn:microsoft.com/office/officeart/2005/8/layout/vList2"/>
    <dgm:cxn modelId="{658F2E82-6B5E-46E0-A473-49A8005C0DB4}" type="presParOf" srcId="{A43B7024-38A5-42C4-943A-8DA470ABBE91}" destId="{922C859A-56E6-4167-B681-06001308DA36}" srcOrd="1" destOrd="0" presId="urn:microsoft.com/office/officeart/2005/8/layout/vList2"/>
    <dgm:cxn modelId="{489004AA-3041-4A9C-A32C-C0555F428848}" type="presParOf" srcId="{A43B7024-38A5-42C4-943A-8DA470ABBE91}" destId="{5937697D-32BE-4A0E-8562-CB79ED749E67}" srcOrd="2" destOrd="0" presId="urn:microsoft.com/office/officeart/2005/8/layout/vList2"/>
    <dgm:cxn modelId="{D23FDA57-99D9-4CA4-8C5E-E0B3403BA415}" type="presParOf" srcId="{A43B7024-38A5-42C4-943A-8DA470ABBE91}" destId="{806FCC85-3324-4DBD-8B34-0093013A516C}" srcOrd="3" destOrd="0" presId="urn:microsoft.com/office/officeart/2005/8/layout/vList2"/>
    <dgm:cxn modelId="{FA01ADCA-3D22-42B8-989F-82114F4324D1}" type="presParOf" srcId="{A43B7024-38A5-42C4-943A-8DA470ABBE91}" destId="{0DD86FCC-7D6A-45C1-A618-6C8153D642BD}" srcOrd="4" destOrd="0" presId="urn:microsoft.com/office/officeart/2005/8/layout/vList2"/>
    <dgm:cxn modelId="{9AAEB687-9F60-4A50-B2CB-C00B8D87FAB6}" type="presParOf" srcId="{A43B7024-38A5-42C4-943A-8DA470ABBE91}" destId="{CC35F9FA-255C-40ED-A0A8-D9266D65D3F6}" srcOrd="5" destOrd="0" presId="urn:microsoft.com/office/officeart/2005/8/layout/vList2"/>
    <dgm:cxn modelId="{B044FCE4-03E4-4F82-A3D7-ACC46981A1F0}" type="presParOf" srcId="{A43B7024-38A5-42C4-943A-8DA470ABBE91}" destId="{D4A756DD-4727-4635-99AE-4D0F66082B5E}" srcOrd="6" destOrd="0" presId="urn:microsoft.com/office/officeart/2005/8/layout/vList2"/>
    <dgm:cxn modelId="{EBAB92BC-FEF5-4E71-B115-49BA57979819}" type="presParOf" srcId="{A43B7024-38A5-42C4-943A-8DA470ABBE91}" destId="{AE725320-4129-4F6E-8655-E44F52D597A9}" srcOrd="7" destOrd="0" presId="urn:microsoft.com/office/officeart/2005/8/layout/vList2"/>
    <dgm:cxn modelId="{4034D3C2-1D96-4863-B0A0-8954F5712757}" type="presParOf" srcId="{A43B7024-38A5-42C4-943A-8DA470ABBE91}" destId="{806505C0-1695-4DEE-929D-FACD51BD1B29}" srcOrd="8" destOrd="0" presId="urn:microsoft.com/office/officeart/2005/8/layout/vList2"/>
    <dgm:cxn modelId="{59558425-4E5F-4485-9CBC-DBCE700FD8A0}" type="presParOf" srcId="{A43B7024-38A5-42C4-943A-8DA470ABBE91}" destId="{93310E0F-77E3-44F4-B485-93BED2062EDB}" srcOrd="9" destOrd="0" presId="urn:microsoft.com/office/officeart/2005/8/layout/vList2"/>
    <dgm:cxn modelId="{25F36322-8815-448F-B6B0-256C292FF843}" type="presParOf" srcId="{A43B7024-38A5-42C4-943A-8DA470ABBE91}" destId="{9207B1C6-F43B-4C4F-A835-A1AD8FC2C18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6E88A4-C096-4C45-8520-AEB91F0EC192}">
      <dsp:nvSpPr>
        <dsp:cNvPr id="0" name=""/>
        <dsp:cNvSpPr/>
      </dsp:nvSpPr>
      <dsp:spPr>
        <a:xfrm>
          <a:off x="0" y="20445"/>
          <a:ext cx="3313113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Dataset: </a:t>
          </a:r>
          <a:r>
            <a:rPr lang="en-US" sz="1300" kern="1200"/>
            <a:t>OpenNeuro ds000228 Pixar Movie-Watching (5 subjects).</a:t>
          </a:r>
        </a:p>
      </dsp:txBody>
      <dsp:txXfrm>
        <a:off x="24502" y="44947"/>
        <a:ext cx="3264109" cy="452926"/>
      </dsp:txXfrm>
    </dsp:sp>
    <dsp:sp modelId="{C2D94A7A-2F11-4EBF-8617-52C419A492A0}">
      <dsp:nvSpPr>
        <dsp:cNvPr id="0" name=""/>
        <dsp:cNvSpPr/>
      </dsp:nvSpPr>
      <dsp:spPr>
        <a:xfrm>
          <a:off x="0" y="559816"/>
          <a:ext cx="3313113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Preprocessing Pipeline:</a:t>
          </a:r>
          <a:endParaRPr lang="en-US" sz="1300" kern="1200"/>
        </a:p>
      </dsp:txBody>
      <dsp:txXfrm>
        <a:off x="24502" y="584318"/>
        <a:ext cx="3264109" cy="452926"/>
      </dsp:txXfrm>
    </dsp:sp>
    <dsp:sp modelId="{CD65D93F-253D-460A-8E3C-0DB42873A6D2}">
      <dsp:nvSpPr>
        <dsp:cNvPr id="0" name=""/>
        <dsp:cNvSpPr/>
      </dsp:nvSpPr>
      <dsp:spPr>
        <a:xfrm>
          <a:off x="0" y="1061746"/>
          <a:ext cx="3313113" cy="659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191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b="1" kern="1200"/>
            <a:t>EPI Masking: </a:t>
          </a:r>
          <a:r>
            <a:rPr lang="en-US" sz="1000" kern="1200"/>
            <a:t>Isolating 40,000 brain voxels.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b="1" kern="1200"/>
            <a:t>High-Pass Filtering: </a:t>
          </a:r>
          <a:r>
            <a:rPr lang="en-US" sz="1000" kern="1200"/>
            <a:t>Removing artifacts below 0.01 Hz.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b="1" kern="1200"/>
            <a:t>Normalization: </a:t>
          </a:r>
          <a:r>
            <a:rPr lang="en-US" sz="1000" kern="1200"/>
            <a:t>Voxel-wise Z-scoring.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b="1" kern="1200"/>
            <a:t>Temporal Trimming: </a:t>
          </a:r>
          <a:r>
            <a:rPr lang="en-US" sz="1000" kern="1200"/>
            <a:t>Stabilizing signals.</a:t>
          </a:r>
        </a:p>
      </dsp:txBody>
      <dsp:txXfrm>
        <a:off x="0" y="1061746"/>
        <a:ext cx="3313113" cy="6592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45D60E-F0C4-4896-8D02-2AA578AC2504}">
      <dsp:nvSpPr>
        <dsp:cNvPr id="0" name=""/>
        <dsp:cNvSpPr/>
      </dsp:nvSpPr>
      <dsp:spPr>
        <a:xfrm>
          <a:off x="0" y="73791"/>
          <a:ext cx="3313051" cy="347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Successfully compressed high-dimensional fMRI data into a 64-D latent space</a:t>
          </a:r>
        </a:p>
      </dsp:txBody>
      <dsp:txXfrm>
        <a:off x="16963" y="90754"/>
        <a:ext cx="3279125" cy="313564"/>
      </dsp:txXfrm>
    </dsp:sp>
    <dsp:sp modelId="{5937697D-32BE-4A0E-8562-CB79ED749E67}">
      <dsp:nvSpPr>
        <dsp:cNvPr id="0" name=""/>
        <dsp:cNvSpPr/>
      </dsp:nvSpPr>
      <dsp:spPr>
        <a:xfrm>
          <a:off x="0" y="447201"/>
          <a:ext cx="3313051" cy="347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Achieved strong cross-subject alignment (MSE ≈ 0.001)</a:t>
          </a:r>
        </a:p>
      </dsp:txBody>
      <dsp:txXfrm>
        <a:off x="16963" y="464164"/>
        <a:ext cx="3279125" cy="313564"/>
      </dsp:txXfrm>
    </dsp:sp>
    <dsp:sp modelId="{0DD86FCC-7D6A-45C1-A618-6C8153D642BD}">
      <dsp:nvSpPr>
        <dsp:cNvPr id="0" name=""/>
        <dsp:cNvSpPr/>
      </dsp:nvSpPr>
      <dsp:spPr>
        <a:xfrm>
          <a:off x="0" y="820611"/>
          <a:ext cx="3313051" cy="347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Demonstrated that latent representations can be aligned across individuals</a:t>
          </a:r>
        </a:p>
      </dsp:txBody>
      <dsp:txXfrm>
        <a:off x="16963" y="837574"/>
        <a:ext cx="3279125" cy="313564"/>
      </dsp:txXfrm>
    </dsp:sp>
    <dsp:sp modelId="{D4A756DD-4727-4635-99AE-4D0F66082B5E}">
      <dsp:nvSpPr>
        <dsp:cNvPr id="0" name=""/>
        <dsp:cNvSpPr/>
      </dsp:nvSpPr>
      <dsp:spPr>
        <a:xfrm>
          <a:off x="0" y="1194020"/>
          <a:ext cx="3313051" cy="347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However, decoding performance remained near chance level</a:t>
          </a:r>
        </a:p>
      </dsp:txBody>
      <dsp:txXfrm>
        <a:off x="16963" y="1210983"/>
        <a:ext cx="3279125" cy="313564"/>
      </dsp:txXfrm>
    </dsp:sp>
    <dsp:sp modelId="{806505C0-1695-4DEE-929D-FACD51BD1B29}">
      <dsp:nvSpPr>
        <dsp:cNvPr id="0" name=""/>
        <dsp:cNvSpPr/>
      </dsp:nvSpPr>
      <dsp:spPr>
        <a:xfrm>
          <a:off x="0" y="1567431"/>
          <a:ext cx="3313051" cy="347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Alignment alone is not sufficient for meaningful semantic decoding</a:t>
          </a:r>
        </a:p>
      </dsp:txBody>
      <dsp:txXfrm>
        <a:off x="16963" y="1584394"/>
        <a:ext cx="3279125" cy="313564"/>
      </dsp:txXfrm>
    </dsp:sp>
    <dsp:sp modelId="{9207B1C6-F43B-4C4F-A835-A1AD8FC2C18F}">
      <dsp:nvSpPr>
        <dsp:cNvPr id="0" name=""/>
        <dsp:cNvSpPr/>
      </dsp:nvSpPr>
      <dsp:spPr>
        <a:xfrm>
          <a:off x="0" y="1940841"/>
          <a:ext cx="3313051" cy="347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Stronger supervision and richer labels are needed in future work</a:t>
          </a:r>
        </a:p>
      </dsp:txBody>
      <dsp:txXfrm>
        <a:off x="16963" y="1957804"/>
        <a:ext cx="3279125" cy="313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8144" y="404864"/>
            <a:ext cx="2832668" cy="1282481"/>
          </a:xfrm>
        </p:spPr>
        <p:txBody>
          <a:bodyPr bIns="0" anchor="b">
            <a:normAutofit/>
          </a:bodyPr>
          <a:lstStyle>
            <a:lvl1pPr algn="l">
              <a:defRPr sz="27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144" y="1781951"/>
            <a:ext cx="2832668" cy="493337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807" b="0" cap="all" baseline="0">
                <a:solidFill>
                  <a:schemeClr val="tx1"/>
                </a:solidFill>
              </a:defRPr>
            </a:lvl1pPr>
            <a:lvl2pPr marL="172890" indent="0" algn="ctr">
              <a:buNone/>
              <a:defRPr sz="756"/>
            </a:lvl2pPr>
            <a:lvl3pPr marL="345780" indent="0" algn="ctr">
              <a:buNone/>
              <a:defRPr sz="681"/>
            </a:lvl3pPr>
            <a:lvl4pPr marL="518671" indent="0" algn="ctr">
              <a:buNone/>
              <a:defRPr sz="605"/>
            </a:lvl4pPr>
            <a:lvl5pPr marL="691561" indent="0" algn="ctr">
              <a:buNone/>
              <a:defRPr sz="605"/>
            </a:lvl5pPr>
            <a:lvl6pPr marL="864451" indent="0" algn="ctr">
              <a:buNone/>
              <a:defRPr sz="605"/>
            </a:lvl6pPr>
            <a:lvl7pPr marL="1037341" indent="0" algn="ctr">
              <a:buNone/>
              <a:defRPr sz="605"/>
            </a:lvl7pPr>
            <a:lvl8pPr marL="1210231" indent="0" algn="ctr">
              <a:buNone/>
              <a:defRPr sz="605"/>
            </a:lvl8pPr>
            <a:lvl9pPr marL="1383121" indent="0" algn="ctr">
              <a:buNone/>
              <a:defRPr sz="60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08144" y="166179"/>
            <a:ext cx="1556006" cy="156032"/>
          </a:xfrm>
        </p:spPr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330" y="403186"/>
            <a:ext cx="404344" cy="254120"/>
          </a:xfrm>
        </p:spPr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08144" y="1780607"/>
            <a:ext cx="28326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46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27760" y="932095"/>
            <a:ext cx="331305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67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760" y="886195"/>
            <a:ext cx="2831905" cy="952716"/>
          </a:xfrm>
        </p:spPr>
        <p:txBody>
          <a:bodyPr anchor="b">
            <a:normAutofit/>
          </a:bodyPr>
          <a:lstStyle>
            <a:lvl1pPr algn="l">
              <a:defRPr sz="16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761" y="1920720"/>
            <a:ext cx="2831905" cy="511154"/>
          </a:xfrm>
        </p:spPr>
        <p:txBody>
          <a:bodyPr tIns="91440">
            <a:normAutofit/>
          </a:bodyPr>
          <a:lstStyle>
            <a:lvl1pPr marL="0" indent="0" algn="l">
              <a:buNone/>
              <a:defRPr sz="908">
                <a:solidFill>
                  <a:schemeClr val="tx1"/>
                </a:solidFill>
              </a:defRPr>
            </a:lvl1pPr>
            <a:lvl2pPr marL="17289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2pPr>
            <a:lvl3pPr marL="345780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3pPr>
            <a:lvl4pPr marL="51867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4pPr>
            <a:lvl5pPr marL="69156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5pPr>
            <a:lvl6pPr marL="86445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6pPr>
            <a:lvl7pPr marL="103734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7pPr>
            <a:lvl8pPr marL="121023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8pPr>
            <a:lvl9pPr marL="138312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27760" y="1920108"/>
            <a:ext cx="283190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23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760" y="406171"/>
            <a:ext cx="3313052" cy="5345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7760" y="1016292"/>
            <a:ext cx="1575960" cy="1734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4962" y="1016292"/>
            <a:ext cx="1575850" cy="17346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27760" y="932095"/>
            <a:ext cx="331305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52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727760" y="932095"/>
            <a:ext cx="331305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760" y="405805"/>
            <a:ext cx="3313053" cy="533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760" y="1019125"/>
            <a:ext cx="1575907" cy="404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109" b="0" cap="all" baseline="0">
                <a:solidFill>
                  <a:schemeClr val="accent1"/>
                </a:solidFill>
              </a:defRPr>
            </a:lvl1pPr>
            <a:lvl2pPr marL="172890" indent="0">
              <a:buNone/>
              <a:defRPr sz="756" b="1"/>
            </a:lvl2pPr>
            <a:lvl3pPr marL="345780" indent="0">
              <a:buNone/>
              <a:defRPr sz="681" b="1"/>
            </a:lvl3pPr>
            <a:lvl4pPr marL="518671" indent="0">
              <a:buNone/>
              <a:defRPr sz="605" b="1"/>
            </a:lvl4pPr>
            <a:lvl5pPr marL="691561" indent="0">
              <a:buNone/>
              <a:defRPr sz="605" b="1"/>
            </a:lvl5pPr>
            <a:lvl6pPr marL="864451" indent="0">
              <a:buNone/>
              <a:defRPr sz="605" b="1"/>
            </a:lvl6pPr>
            <a:lvl7pPr marL="1037341" indent="0">
              <a:buNone/>
              <a:defRPr sz="605" b="1"/>
            </a:lvl7pPr>
            <a:lvl8pPr marL="1210231" indent="0">
              <a:buNone/>
              <a:defRPr sz="605" b="1"/>
            </a:lvl8pPr>
            <a:lvl9pPr marL="1383121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7760" y="1425211"/>
            <a:ext cx="1575907" cy="13344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4962" y="1020868"/>
            <a:ext cx="1575850" cy="4048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109" b="0" cap="all" baseline="0">
                <a:solidFill>
                  <a:schemeClr val="accent1"/>
                </a:solidFill>
              </a:defRPr>
            </a:lvl1pPr>
            <a:lvl2pPr marL="172890" indent="0">
              <a:buNone/>
              <a:defRPr sz="756" b="1"/>
            </a:lvl2pPr>
            <a:lvl3pPr marL="345780" indent="0">
              <a:buNone/>
              <a:defRPr sz="681" b="1"/>
            </a:lvl3pPr>
            <a:lvl4pPr marL="518671" indent="0">
              <a:buNone/>
              <a:defRPr sz="605" b="1"/>
            </a:lvl4pPr>
            <a:lvl5pPr marL="691561" indent="0">
              <a:buNone/>
              <a:defRPr sz="605" b="1"/>
            </a:lvl5pPr>
            <a:lvl6pPr marL="864451" indent="0">
              <a:buNone/>
              <a:defRPr sz="605" b="1"/>
            </a:lvl6pPr>
            <a:lvl7pPr marL="1037341" indent="0">
              <a:buNone/>
              <a:defRPr sz="605" b="1"/>
            </a:lvl7pPr>
            <a:lvl8pPr marL="1210231" indent="0">
              <a:buNone/>
              <a:defRPr sz="605" b="1"/>
            </a:lvl8pPr>
            <a:lvl9pPr marL="1383121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4962" y="1423808"/>
            <a:ext cx="1575850" cy="1330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178909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727760" y="932095"/>
            <a:ext cx="331305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251459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369759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17" y="403186"/>
            <a:ext cx="1223083" cy="1133962"/>
          </a:xfrm>
        </p:spPr>
        <p:txBody>
          <a:bodyPr anchor="b">
            <a:normAutofit/>
          </a:bodyPr>
          <a:lstStyle>
            <a:lvl1pPr algn="l">
              <a:defRPr sz="12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0772" y="403186"/>
            <a:ext cx="1930040" cy="235098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17" y="1617586"/>
            <a:ext cx="1223799" cy="1134499"/>
          </a:xfrm>
        </p:spPr>
        <p:txBody>
          <a:bodyPr>
            <a:normAutofit/>
          </a:bodyPr>
          <a:lstStyle>
            <a:lvl1pPr marL="0" indent="0" algn="l">
              <a:buNone/>
              <a:defRPr sz="807"/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726881" y="1617586"/>
            <a:ext cx="12217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9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519070" y="243318"/>
            <a:ext cx="1770324" cy="2598389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092" y="569986"/>
            <a:ext cx="1635988" cy="923767"/>
          </a:xfrm>
        </p:spPr>
        <p:txBody>
          <a:bodyPr anchor="b">
            <a:normAutofit/>
          </a:bodyPr>
          <a:lstStyle>
            <a:lvl1pPr>
              <a:defRPr sz="16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43565" y="566469"/>
            <a:ext cx="1126811" cy="1951063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7761" y="1587561"/>
            <a:ext cx="1633644" cy="1011148"/>
          </a:xfrm>
        </p:spPr>
        <p:txBody>
          <a:bodyPr>
            <a:normAutofit/>
          </a:bodyPr>
          <a:lstStyle>
            <a:lvl1pPr marL="0" indent="0" algn="l">
              <a:buNone/>
              <a:defRPr sz="908"/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4318" y="2760252"/>
            <a:ext cx="1639762" cy="1615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4755" y="160796"/>
            <a:ext cx="1639325" cy="161951"/>
          </a:xfrm>
        </p:spPr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726646" y="1586356"/>
            <a:ext cx="1634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27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727760" y="932095"/>
            <a:ext cx="331305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560471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7840" y="403186"/>
            <a:ext cx="556109" cy="2351518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7760" y="403186"/>
            <a:ext cx="2672635" cy="23515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487839" y="403186"/>
            <a:ext cx="0" cy="2351518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94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017199"/>
            <a:ext cx="4610100" cy="20586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3075846"/>
            <a:ext cx="4610101" cy="3909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3078809"/>
            <a:ext cx="46101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760" y="405985"/>
            <a:ext cx="3313052" cy="5294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760" y="1017199"/>
            <a:ext cx="3313052" cy="1741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798" y="166715"/>
            <a:ext cx="1194014" cy="1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7760" y="166179"/>
            <a:ext cx="2033810" cy="1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580"/>
              </a:lnSpc>
            </a:pPr>
            <a:r>
              <a:rPr lang="en-US" spc="-10"/>
              <a:t>February</a:t>
            </a:r>
            <a:r>
              <a:rPr lang="en-US" spc="25"/>
              <a:t> </a:t>
            </a:r>
            <a:r>
              <a:rPr lang="en-US" spc="-20"/>
              <a:t>2026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5894" y="403186"/>
            <a:ext cx="401189" cy="2541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12">
                <a:solidFill>
                  <a:schemeClr val="accent1"/>
                </a:solidFill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lang="en-PK" spc="-20" smtClean="0"/>
              <a:t>‹#›</a:t>
            </a:fld>
            <a:r>
              <a:rPr lang="en-PK" spc="-50"/>
              <a:t> </a:t>
            </a:r>
            <a:r>
              <a:rPr lang="en-PK" spc="125"/>
              <a:t>/</a:t>
            </a:r>
            <a:r>
              <a:rPr lang="en-PK" spc="-50"/>
              <a:t> 8</a:t>
            </a:r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300169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</p:sldLayoutIdLst>
  <p:txStyles>
    <p:titleStyle>
      <a:lvl1pPr algn="l" defTabSz="345780" rtl="0" eaLnBrk="1" latinLnBrk="0" hangingPunct="1">
        <a:lnSpc>
          <a:spcPct val="90000"/>
        </a:lnSpc>
        <a:spcBef>
          <a:spcPct val="0"/>
        </a:spcBef>
        <a:buNone/>
        <a:defRPr sz="1613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15260" indent="-115260" algn="l" defTabSz="345780" rtl="0" eaLnBrk="1" latinLnBrk="0" hangingPunct="1">
        <a:lnSpc>
          <a:spcPct val="120000"/>
        </a:lnSpc>
        <a:spcBef>
          <a:spcPts val="50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0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345780" indent="-115260" algn="l" defTabSz="34578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807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576301" indent="-115260" algn="l" defTabSz="34578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807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806821" indent="-115260" algn="l" defTabSz="34578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706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037341" indent="-115260" algn="l" defTabSz="34578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60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267861" indent="-115260" algn="l" defTabSz="46104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605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605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605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lnSpc>
          <a:spcPct val="120000"/>
        </a:lnSpc>
        <a:spcBef>
          <a:spcPts val="25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605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2890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45780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18671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691561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64451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37341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10231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383121" algn="l" defTabSz="345780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30" y="681443"/>
            <a:ext cx="4457065" cy="69570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2270" marR="474980" algn="ctr">
              <a:lnSpc>
                <a:spcPct val="106700"/>
              </a:lnSpc>
              <a:spcBef>
                <a:spcPts val="330"/>
              </a:spcBef>
            </a:pPr>
            <a:r>
              <a:rPr sz="1400" spc="-10" dirty="0">
                <a:latin typeface="Arial MT"/>
                <a:cs typeface="Arial MT"/>
              </a:rPr>
              <a:t>MindBridge: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spc="-75" dirty="0">
                <a:latin typeface="Arial MT"/>
                <a:cs typeface="Arial MT"/>
              </a:rPr>
              <a:t>Cross-</a:t>
            </a:r>
            <a:r>
              <a:rPr sz="1400" spc="-50" dirty="0">
                <a:latin typeface="Arial MT"/>
                <a:cs typeface="Arial MT"/>
              </a:rPr>
              <a:t>Subject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fMRI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60" dirty="0">
                <a:latin typeface="Arial MT"/>
                <a:cs typeface="Arial MT"/>
              </a:rPr>
              <a:t>Representation </a:t>
            </a:r>
            <a:r>
              <a:rPr sz="1400" spc="-10" dirty="0">
                <a:latin typeface="Arial MT"/>
                <a:cs typeface="Arial MT"/>
              </a:rPr>
              <a:t>Learning</a:t>
            </a:r>
            <a:endParaRPr sz="1400" dirty="0">
              <a:latin typeface="Arial MT"/>
              <a:cs typeface="Arial MT"/>
            </a:endParaRPr>
          </a:p>
          <a:p>
            <a:pPr marR="93980" algn="ctr">
              <a:lnSpc>
                <a:spcPct val="100000"/>
              </a:lnSpc>
              <a:spcBef>
                <a:spcPts val="265"/>
              </a:spcBef>
            </a:pPr>
            <a:r>
              <a:rPr sz="1000" spc="-20" dirty="0">
                <a:latin typeface="Tahoma"/>
                <a:cs typeface="Tahoma"/>
              </a:rPr>
              <a:t>Synthetic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Noise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Modeling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Real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Movie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Analysis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8252" y="1711838"/>
            <a:ext cx="1591945" cy="90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Tahoma"/>
                <a:cs typeface="Tahoma"/>
              </a:rPr>
              <a:t>Syed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Ismael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Munir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Hussain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ts val="819"/>
              </a:lnSpc>
            </a:pPr>
            <a:r>
              <a:rPr sz="700" dirty="0">
                <a:latin typeface="Arial MT"/>
                <a:cs typeface="Arial MT"/>
              </a:rPr>
              <a:t>UET</a:t>
            </a:r>
            <a:r>
              <a:rPr sz="700" spc="114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Taxila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ts val="819"/>
              </a:lnSpc>
            </a:pPr>
            <a:r>
              <a:rPr sz="700" b="1" spc="-35" dirty="0">
                <a:latin typeface="Arial"/>
                <a:cs typeface="Arial"/>
              </a:rPr>
              <a:t>Supervisor:</a:t>
            </a:r>
            <a:r>
              <a:rPr sz="700" b="1" spc="135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Dr.</a:t>
            </a:r>
            <a:r>
              <a:rPr sz="700" spc="14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Hassan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Dawood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00" spc="-45" dirty="0">
                <a:latin typeface="Tahoma"/>
                <a:cs typeface="Tahoma"/>
              </a:rPr>
              <a:t>February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2026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5" name="object 5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35772" y="3379739"/>
            <a:ext cx="11938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2700" y="3365837"/>
            <a:ext cx="3061335" cy="9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Syed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Ismael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Munir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(UET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Taxila</a:t>
            </a:r>
            <a:r>
              <a:rPr sz="5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MindBridge: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Cross-Subject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fMRI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Representation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pc="-10" dirty="0"/>
              <a:t>February</a:t>
            </a:r>
            <a:r>
              <a:rPr spc="25" dirty="0"/>
              <a:t> </a:t>
            </a:r>
            <a:r>
              <a:rPr spc="-20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t>1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8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Problem</a:t>
            </a:r>
            <a:r>
              <a:rPr spc="5" dirty="0"/>
              <a:t> </a:t>
            </a:r>
            <a:r>
              <a:rPr spc="-25" dirty="0"/>
              <a:t>Statement</a:t>
            </a:r>
            <a:r>
              <a:rPr spc="5" dirty="0"/>
              <a:t> </a:t>
            </a:r>
            <a:r>
              <a:rPr spc="120" dirty="0"/>
              <a:t>&amp;</a:t>
            </a:r>
            <a:r>
              <a:rPr spc="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pc="-10" dirty="0"/>
              <a:t>February</a:t>
            </a:r>
            <a:r>
              <a:rPr spc="25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t>2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257185"/>
            <a:ext cx="59601" cy="596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1180089"/>
            <a:ext cx="4043679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892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Challenge:</a:t>
            </a:r>
            <a:r>
              <a:rPr sz="1000" b="1" spc="11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Brain</a:t>
            </a:r>
            <a:r>
              <a:rPr sz="1000" spc="-10" dirty="0">
                <a:latin typeface="Tahoma"/>
                <a:cs typeface="Tahoma"/>
              </a:rPr>
              <a:t> activity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unique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across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subjects,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making </a:t>
            </a:r>
            <a:r>
              <a:rPr sz="1000" spc="-45" dirty="0">
                <a:latin typeface="Tahoma"/>
                <a:cs typeface="Tahoma"/>
              </a:rPr>
              <a:t>cross-</a:t>
            </a:r>
            <a:r>
              <a:rPr sz="1000" spc="-35" dirty="0">
                <a:latin typeface="Tahoma"/>
                <a:cs typeface="Tahoma"/>
              </a:rPr>
              <a:t>subject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decoding</a:t>
            </a:r>
            <a:r>
              <a:rPr sz="1000" spc="-10" dirty="0">
                <a:latin typeface="Tahoma"/>
                <a:cs typeface="Tahoma"/>
              </a:rPr>
              <a:t> difficult.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Gap:</a:t>
            </a:r>
            <a:r>
              <a:rPr sz="1000" b="1" spc="125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Standard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synthetic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fMRI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models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ignore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realistic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acquisition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noise </a:t>
            </a:r>
            <a:r>
              <a:rPr sz="1000" spc="-10" dirty="0">
                <a:latin typeface="Tahoma"/>
                <a:cs typeface="Tahoma"/>
              </a:rPr>
              <a:t>like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thermal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physiological </a:t>
            </a:r>
            <a:r>
              <a:rPr sz="1000" spc="-10" dirty="0">
                <a:latin typeface="Tahoma"/>
                <a:cs typeface="Tahoma"/>
              </a:rPr>
              <a:t>artifacts.</a:t>
            </a:r>
            <a:endParaRPr sz="1000">
              <a:latin typeface="Tahoma"/>
              <a:cs typeface="Tahoma"/>
            </a:endParaRPr>
          </a:p>
          <a:p>
            <a:pPr marL="12700" marR="169545">
              <a:lnSpc>
                <a:spcPct val="100000"/>
              </a:lnSpc>
              <a:spcBef>
                <a:spcPts val="290"/>
              </a:spcBef>
            </a:pPr>
            <a:r>
              <a:rPr sz="1000" b="1" spc="-20" dirty="0">
                <a:latin typeface="Arial"/>
                <a:cs typeface="Arial"/>
              </a:rPr>
              <a:t>Goal: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Learn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shared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latent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space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align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brain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patterns </a:t>
            </a:r>
            <a:r>
              <a:rPr sz="1000" spc="-25" dirty="0">
                <a:latin typeface="Tahoma"/>
                <a:cs typeface="Tahoma"/>
              </a:rPr>
              <a:t>while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modeling realistic</a:t>
            </a:r>
            <a:r>
              <a:rPr sz="1000" spc="-10" dirty="0">
                <a:latin typeface="Tahoma"/>
                <a:cs typeface="Tahoma"/>
              </a:rPr>
              <a:t> noise.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598803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940420"/>
            <a:ext cx="59601" cy="5960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8" name="object 8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35772" y="3379739"/>
            <a:ext cx="11938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12700" y="3365837"/>
            <a:ext cx="3061335" cy="9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Syed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Ismael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Munir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(UET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Taxila</a:t>
            </a:r>
            <a:r>
              <a:rPr sz="5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MindBridge: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Cross-Subject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fMRI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Representation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6409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0" dirty="0"/>
              <a:t>Phase</a:t>
            </a:r>
            <a:r>
              <a:rPr spc="5" dirty="0"/>
              <a:t> </a:t>
            </a:r>
            <a:r>
              <a:rPr dirty="0"/>
              <a:t>1:</a:t>
            </a:r>
            <a:r>
              <a:rPr spc="140" dirty="0"/>
              <a:t> </a:t>
            </a:r>
            <a:r>
              <a:rPr spc="-30" dirty="0"/>
              <a:t>Synthetic</a:t>
            </a:r>
            <a:r>
              <a:rPr spc="10" dirty="0"/>
              <a:t> </a:t>
            </a:r>
            <a:r>
              <a:rPr spc="-70" dirty="0"/>
              <a:t>Noise</a:t>
            </a:r>
            <a:r>
              <a:rPr spc="5" dirty="0"/>
              <a:t> </a:t>
            </a:r>
            <a:r>
              <a:rPr spc="-10" dirty="0"/>
              <a:t>Modeling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pc="-10" dirty="0"/>
              <a:t>February</a:t>
            </a:r>
            <a:r>
              <a:rPr spc="25" dirty="0"/>
              <a:t> </a:t>
            </a:r>
            <a:r>
              <a:rPr spc="-20" dirty="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xfrm>
            <a:off x="4029409" y="166179"/>
            <a:ext cx="401189" cy="254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t>3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lang="en-PK" spc="-50" dirty="0"/>
              <a:t>8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1095235"/>
            <a:ext cx="59601" cy="59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576031"/>
            <a:ext cx="59601" cy="59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70" y="1752092"/>
            <a:ext cx="48018" cy="480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70" y="1891271"/>
            <a:ext cx="48018" cy="480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9170" y="2030450"/>
            <a:ext cx="48018" cy="480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4700" y="1018138"/>
            <a:ext cx="1875789" cy="1442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215" algn="just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Objective:</a:t>
            </a:r>
            <a:r>
              <a:rPr sz="1000" b="1" spc="8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Create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synthetic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mimics </a:t>
            </a:r>
            <a:r>
              <a:rPr sz="1000" spc="-45" dirty="0">
                <a:latin typeface="Tahoma"/>
                <a:cs typeface="Tahoma"/>
              </a:rPr>
              <a:t>real-</a:t>
            </a:r>
            <a:r>
              <a:rPr sz="1000" spc="-35" dirty="0">
                <a:latin typeface="Tahoma"/>
                <a:cs typeface="Tahoma"/>
              </a:rPr>
              <a:t>world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acquisition </a:t>
            </a:r>
            <a:r>
              <a:rPr sz="1000" spc="-10" dirty="0">
                <a:latin typeface="Tahoma"/>
                <a:cs typeface="Tahoma"/>
              </a:rPr>
              <a:t>conditions.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b="1" spc="-10" dirty="0">
                <a:latin typeface="Arial"/>
                <a:cs typeface="Arial"/>
              </a:rPr>
              <a:t>Components:</a:t>
            </a:r>
            <a:endParaRPr sz="1000">
              <a:latin typeface="Arial"/>
              <a:cs typeface="Arial"/>
            </a:endParaRPr>
          </a:p>
          <a:p>
            <a:pPr marL="265430" marR="599440">
              <a:lnSpc>
                <a:spcPct val="101499"/>
              </a:lnSpc>
              <a:spcBef>
                <a:spcPts val="180"/>
              </a:spcBef>
            </a:pPr>
            <a:r>
              <a:rPr sz="900" dirty="0">
                <a:latin typeface="Arial MT"/>
                <a:cs typeface="Arial MT"/>
              </a:rPr>
              <a:t>Thermal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Noise </a:t>
            </a:r>
            <a:r>
              <a:rPr sz="900" spc="-25" dirty="0">
                <a:latin typeface="Arial MT"/>
                <a:cs typeface="Arial MT"/>
              </a:rPr>
              <a:t>Physiological</a:t>
            </a:r>
            <a:r>
              <a:rPr sz="900" spc="6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Noise </a:t>
            </a:r>
            <a:r>
              <a:rPr sz="900" spc="-10" dirty="0">
                <a:latin typeface="Arial MT"/>
                <a:cs typeface="Arial MT"/>
              </a:rPr>
              <a:t>Spatial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Noise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(Drift)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315"/>
              </a:spcBef>
            </a:pPr>
            <a:r>
              <a:rPr sz="1000" b="1" spc="-25" dirty="0">
                <a:latin typeface="Arial"/>
                <a:cs typeface="Arial"/>
              </a:rPr>
              <a:t>Result:</a:t>
            </a:r>
            <a:r>
              <a:rPr sz="1000" b="1" spc="95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Successfully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matched </a:t>
            </a:r>
            <a:r>
              <a:rPr sz="1000" spc="-25" dirty="0">
                <a:latin typeface="Tahoma"/>
                <a:cs typeface="Tahoma"/>
              </a:rPr>
              <a:t>the </a:t>
            </a:r>
            <a:r>
              <a:rPr sz="1000" dirty="0">
                <a:latin typeface="Tahoma"/>
                <a:cs typeface="Tahoma"/>
              </a:rPr>
              <a:t>1/f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spectral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structure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real</a:t>
            </a:r>
            <a:r>
              <a:rPr sz="1000" spc="-10" dirty="0">
                <a:latin typeface="Tahoma"/>
                <a:cs typeface="Tahoma"/>
              </a:rPr>
              <a:t> fMRI.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28" y="2208657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3115" y="1214891"/>
            <a:ext cx="2057483" cy="93076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11119" y="2152951"/>
            <a:ext cx="10433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10" dirty="0">
                <a:latin typeface="Arial"/>
                <a:cs typeface="Arial"/>
              </a:rPr>
              <a:t>Average</a:t>
            </a:r>
            <a:r>
              <a:rPr sz="500" i="1" spc="5" dirty="0">
                <a:latin typeface="Arial"/>
                <a:cs typeface="Arial"/>
              </a:rPr>
              <a:t> </a:t>
            </a:r>
            <a:r>
              <a:rPr sz="500" i="1" spc="-10" dirty="0">
                <a:latin typeface="Arial"/>
                <a:cs typeface="Arial"/>
              </a:rPr>
              <a:t>Power</a:t>
            </a:r>
            <a:r>
              <a:rPr sz="500" i="1" spc="10" dirty="0">
                <a:latin typeface="Arial"/>
                <a:cs typeface="Arial"/>
              </a:rPr>
              <a:t> </a:t>
            </a:r>
            <a:r>
              <a:rPr sz="500" i="1" dirty="0">
                <a:latin typeface="Arial"/>
                <a:cs typeface="Arial"/>
              </a:rPr>
              <a:t>Spectrum</a:t>
            </a:r>
            <a:r>
              <a:rPr sz="500" i="1" spc="5" dirty="0">
                <a:latin typeface="Arial"/>
                <a:cs typeface="Arial"/>
              </a:rPr>
              <a:t> </a:t>
            </a:r>
            <a:r>
              <a:rPr sz="500" i="1" spc="-10" dirty="0">
                <a:latin typeface="Arial"/>
                <a:cs typeface="Arial"/>
              </a:rPr>
              <a:t>Alignment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35772" y="3379739"/>
            <a:ext cx="11938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-12700" y="3365837"/>
            <a:ext cx="3061335" cy="9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Syed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Ismael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Munir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(UET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Taxila</a:t>
            </a:r>
            <a:r>
              <a:rPr sz="5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MindBridge: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Cross-Subject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fMRI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Representation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Lear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0" dirty="0"/>
              <a:t>Phase</a:t>
            </a:r>
            <a:r>
              <a:rPr spc="15" dirty="0"/>
              <a:t> </a:t>
            </a:r>
            <a:r>
              <a:rPr dirty="0"/>
              <a:t>2:</a:t>
            </a:r>
            <a:r>
              <a:rPr spc="155" dirty="0"/>
              <a:t> </a:t>
            </a:r>
            <a:r>
              <a:rPr spc="-25" dirty="0"/>
              <a:t>Dataset</a:t>
            </a:r>
            <a:r>
              <a:rPr spc="15" dirty="0"/>
              <a:t> </a:t>
            </a:r>
            <a:r>
              <a:rPr spc="120" dirty="0"/>
              <a:t>&amp;</a:t>
            </a:r>
            <a:r>
              <a:rPr spc="20" dirty="0"/>
              <a:t> </a:t>
            </a:r>
            <a:r>
              <a:rPr spc="-70" dirty="0"/>
              <a:t>Preprocessing</a:t>
            </a:r>
          </a:p>
        </p:txBody>
      </p:sp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24F0430B-5121-2D0A-DC10-C616FEFE17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7075" y="1017588"/>
          <a:ext cx="3313113" cy="1741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pc="-10" dirty="0"/>
              <a:t>February</a:t>
            </a:r>
            <a:r>
              <a:rPr spc="2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t>4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8</a:t>
            </a: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1347" y="1631899"/>
            <a:ext cx="48018" cy="480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1347" y="2049424"/>
            <a:ext cx="48018" cy="4801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35772" y="3379739"/>
            <a:ext cx="11938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lang="en-US" sz="500" spc="-2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-12700" y="3365837"/>
            <a:ext cx="3061335" cy="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Syed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Ismael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Munir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(UET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>
                <a:solidFill>
                  <a:srgbClr val="FFFFFF"/>
                </a:solidFill>
                <a:latin typeface="Arial MT"/>
                <a:cs typeface="Arial MT"/>
              </a:rPr>
              <a:t>Taxila</a:t>
            </a:r>
            <a:r>
              <a:rPr sz="500" spc="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b="1" spc="-10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r>
              <a:rPr lang="en-US" sz="5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MindBridge:</a:t>
            </a:r>
            <a:r>
              <a:rPr lang="en-US" sz="500" spc="105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Cross-Subject</a:t>
            </a:r>
            <a:r>
              <a:rPr lang="en-US" sz="500" spc="45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fMRI</a:t>
            </a:r>
            <a:r>
              <a:rPr lang="en-US" sz="500" spc="5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Representation</a:t>
            </a:r>
            <a:r>
              <a:rPr lang="en-US" sz="500" spc="5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 spc="-2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Lear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VAE</a:t>
            </a:r>
            <a:r>
              <a:rPr spc="-20" dirty="0"/>
              <a:t> </a:t>
            </a:r>
            <a:r>
              <a:rPr spc="-60" dirty="0"/>
              <a:t>Representation</a:t>
            </a:r>
            <a:r>
              <a:rPr spc="-15" dirty="0"/>
              <a:t> </a:t>
            </a:r>
            <a:r>
              <a:rPr spc="-50" dirty="0"/>
              <a:t>Learning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pc="-10" dirty="0"/>
              <a:t>February</a:t>
            </a:r>
            <a:r>
              <a:rPr spc="2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t>5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28" y="1345933"/>
            <a:ext cx="59601" cy="596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4700" y="1268836"/>
            <a:ext cx="1945639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Architecture:</a:t>
            </a:r>
            <a:r>
              <a:rPr sz="1000" b="1" spc="11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30,000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input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voxels </a:t>
            </a:r>
            <a:r>
              <a:rPr sz="1000" spc="-50" dirty="0">
                <a:latin typeface="Tahoma"/>
                <a:cs typeface="Tahoma"/>
              </a:rPr>
              <a:t>compressed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into</a:t>
            </a:r>
            <a:r>
              <a:rPr sz="1000" spc="-30" dirty="0">
                <a:latin typeface="Tahoma"/>
                <a:cs typeface="Tahoma"/>
              </a:rPr>
              <a:t> 64-</a:t>
            </a:r>
            <a:r>
              <a:rPr sz="1000" dirty="0">
                <a:latin typeface="Tahoma"/>
                <a:cs typeface="Tahoma"/>
              </a:rPr>
              <a:t>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Latent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Space.</a:t>
            </a:r>
            <a:endParaRPr sz="1000">
              <a:latin typeface="Tahoma"/>
              <a:cs typeface="Tahoma"/>
            </a:endParaRPr>
          </a:p>
          <a:p>
            <a:pPr marL="12700" marR="29209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Model: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Fully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connected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Variational </a:t>
            </a:r>
            <a:r>
              <a:rPr sz="1000" spc="-10" dirty="0">
                <a:latin typeface="Tahoma"/>
                <a:cs typeface="Tahoma"/>
              </a:rPr>
              <a:t>Autoencoder.</a:t>
            </a:r>
            <a:endParaRPr sz="1000">
              <a:latin typeface="Tahoma"/>
              <a:cs typeface="Tahoma"/>
            </a:endParaRPr>
          </a:p>
          <a:p>
            <a:pPr marL="12700" marR="19685">
              <a:lnSpc>
                <a:spcPct val="100000"/>
              </a:lnSpc>
              <a:spcBef>
                <a:spcPts val="290"/>
              </a:spcBef>
            </a:pPr>
            <a:r>
              <a:rPr sz="1000" b="1" spc="-30" dirty="0">
                <a:latin typeface="Arial"/>
                <a:cs typeface="Arial"/>
              </a:rPr>
              <a:t>Observation: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Rapid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convergence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”Posterior Collapse”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KL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spc="220" dirty="0">
                <a:latin typeface="Arial"/>
                <a:cs typeface="Arial"/>
              </a:rPr>
              <a:t>≈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0).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687550"/>
            <a:ext cx="59601" cy="59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2029168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84217" y="899001"/>
            <a:ext cx="2034278" cy="16247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55048" y="2579633"/>
            <a:ext cx="7550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10" dirty="0">
                <a:latin typeface="Arial"/>
                <a:cs typeface="Arial"/>
              </a:rPr>
              <a:t>Sample</a:t>
            </a:r>
            <a:r>
              <a:rPr sz="500" i="1" spc="25" dirty="0">
                <a:latin typeface="Arial"/>
                <a:cs typeface="Arial"/>
              </a:rPr>
              <a:t> </a:t>
            </a:r>
            <a:r>
              <a:rPr sz="500" i="1" spc="-10" dirty="0">
                <a:latin typeface="Arial"/>
                <a:cs typeface="Arial"/>
              </a:rPr>
              <a:t>Voxel</a:t>
            </a:r>
            <a:r>
              <a:rPr sz="500" i="1" spc="25" dirty="0">
                <a:latin typeface="Arial"/>
                <a:cs typeface="Arial"/>
              </a:rPr>
              <a:t> </a:t>
            </a:r>
            <a:r>
              <a:rPr sz="500" i="1" dirty="0">
                <a:latin typeface="Arial"/>
                <a:cs typeface="Arial"/>
              </a:rPr>
              <a:t>Time</a:t>
            </a:r>
            <a:r>
              <a:rPr sz="500" i="1" spc="30" dirty="0">
                <a:latin typeface="Arial"/>
                <a:cs typeface="Arial"/>
              </a:rPr>
              <a:t> </a:t>
            </a:r>
            <a:r>
              <a:rPr sz="500" i="1" spc="-10" dirty="0">
                <a:latin typeface="Arial"/>
                <a:cs typeface="Arial"/>
              </a:rPr>
              <a:t>Series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35772" y="3379739"/>
            <a:ext cx="11938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-12700" y="3365837"/>
            <a:ext cx="3061335" cy="9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Syed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Ismael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Munir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(UET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Taxila</a:t>
            </a:r>
            <a:r>
              <a:rPr sz="5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MindBridge: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Cross-Subject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fMRI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Representation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Lear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MindBridge:</a:t>
            </a:r>
            <a:r>
              <a:rPr spc="60" dirty="0"/>
              <a:t> </a:t>
            </a:r>
            <a:r>
              <a:rPr spc="-30" dirty="0"/>
              <a:t>Cyclic</a:t>
            </a:r>
            <a:r>
              <a:rPr spc="-45" dirty="0"/>
              <a:t> </a:t>
            </a:r>
            <a:r>
              <a:rPr spc="-30" dirty="0"/>
              <a:t>Mapping</a:t>
            </a:r>
            <a:r>
              <a:rPr spc="-50" dirty="0"/>
              <a:t> Performance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pc="-10" dirty="0"/>
              <a:t>February</a:t>
            </a:r>
            <a:r>
              <a:rPr spc="2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t>6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58" y="1093536"/>
            <a:ext cx="1760848" cy="17886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8984" y="2608411"/>
            <a:ext cx="7042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dirty="0">
                <a:latin typeface="Arial"/>
                <a:cs typeface="Arial"/>
              </a:rPr>
              <a:t>Latent</a:t>
            </a:r>
            <a:r>
              <a:rPr sz="500" i="1" spc="45" dirty="0">
                <a:latin typeface="Arial"/>
                <a:cs typeface="Arial"/>
              </a:rPr>
              <a:t> </a:t>
            </a:r>
            <a:r>
              <a:rPr sz="500" i="1" spc="-20" dirty="0">
                <a:latin typeface="Arial"/>
                <a:cs typeface="Arial"/>
              </a:rPr>
              <a:t>Space</a:t>
            </a:r>
            <a:r>
              <a:rPr sz="500" i="1" spc="50" dirty="0">
                <a:latin typeface="Arial"/>
                <a:cs typeface="Arial"/>
              </a:rPr>
              <a:t> </a:t>
            </a:r>
            <a:r>
              <a:rPr sz="500" i="1" spc="-10" dirty="0">
                <a:latin typeface="Arial"/>
                <a:cs typeface="Arial"/>
              </a:rPr>
              <a:t>Alignment</a:t>
            </a:r>
            <a:endParaRPr sz="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360" y="1426641"/>
            <a:ext cx="59601" cy="59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86532" y="1349545"/>
            <a:ext cx="1810385" cy="861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56235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Concept:</a:t>
            </a:r>
            <a:r>
              <a:rPr sz="1000" b="1" spc="8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Enforcing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Cycle </a:t>
            </a:r>
            <a:r>
              <a:rPr sz="1000" spc="-30" dirty="0">
                <a:latin typeface="Tahoma"/>
                <a:cs typeface="Tahoma"/>
              </a:rPr>
              <a:t>Consistency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B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A).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-55" dirty="0">
                <a:latin typeface="Arial"/>
                <a:cs typeface="Arial"/>
              </a:rPr>
              <a:t>Loss:</a:t>
            </a:r>
            <a:r>
              <a:rPr sz="1000" b="1" spc="10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Cycle</a:t>
            </a:r>
            <a:r>
              <a:rPr sz="1000" spc="-25" dirty="0">
                <a:latin typeface="Tahoma"/>
                <a:cs typeface="Tahoma"/>
              </a:rPr>
              <a:t> Loss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Identity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Loss.</a:t>
            </a:r>
            <a:endParaRPr sz="1000">
              <a:latin typeface="Tahoma"/>
              <a:cs typeface="Tahoma"/>
            </a:endParaRPr>
          </a:p>
          <a:p>
            <a:pPr marL="12700" marR="294005">
              <a:lnSpc>
                <a:spcPct val="100000"/>
              </a:lnSpc>
              <a:spcBef>
                <a:spcPts val="295"/>
              </a:spcBef>
            </a:pPr>
            <a:r>
              <a:rPr sz="1000" b="1" spc="-20" dirty="0">
                <a:latin typeface="Arial"/>
                <a:cs typeface="Arial"/>
              </a:rPr>
              <a:t>Achievement: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spc="-45" dirty="0">
                <a:latin typeface="Tahoma"/>
                <a:cs typeface="Tahoma"/>
              </a:rPr>
              <a:t>Near-</a:t>
            </a:r>
            <a:r>
              <a:rPr sz="1000" spc="-30" dirty="0">
                <a:latin typeface="Tahoma"/>
                <a:cs typeface="Tahoma"/>
              </a:rPr>
              <a:t>perfect alignment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MSE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i="1" spc="220" dirty="0">
                <a:latin typeface="Arial"/>
                <a:cs typeface="Arial"/>
              </a:rPr>
              <a:t>≈</a:t>
            </a:r>
            <a:r>
              <a:rPr sz="1000" i="1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0</a:t>
            </a:r>
            <a:r>
              <a:rPr sz="1000" i="1" spc="-10" dirty="0">
                <a:latin typeface="Arial"/>
                <a:cs typeface="Arial"/>
              </a:rPr>
              <a:t>.</a:t>
            </a:r>
            <a:r>
              <a:rPr sz="1000" spc="-10" dirty="0">
                <a:latin typeface="Tahoma"/>
                <a:cs typeface="Tahoma"/>
              </a:rPr>
              <a:t>001).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360" y="1768259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76360" y="1958047"/>
            <a:ext cx="59601" cy="5960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35772" y="3379739"/>
            <a:ext cx="11938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-12700" y="3365837"/>
            <a:ext cx="3061335" cy="90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Syed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Ismael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Munir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(UET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Taxila</a:t>
            </a:r>
            <a:r>
              <a:rPr sz="5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MindBridge: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Cross-Subject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fMRI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Representation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Lear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760" y="405985"/>
            <a:ext cx="3313052" cy="2655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Conclusion.</a:t>
            </a:r>
            <a:endParaRPr spc="-70" dirty="0"/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A0E3618D-1189-3334-E350-4077C74A4C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7760" y="1017199"/>
          <a:ext cx="3313052" cy="2362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pc="-10" dirty="0"/>
              <a:t>February</a:t>
            </a:r>
            <a:r>
              <a:rPr spc="25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t>7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8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8" name="object 8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35772" y="3379739"/>
            <a:ext cx="119380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lang="en-US" sz="500" spc="-2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ning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12700" y="3365837"/>
            <a:ext cx="3061335" cy="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Syed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Ismael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Munir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5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FFFF"/>
                </a:solidFill>
                <a:latin typeface="Arial MT"/>
                <a:cs typeface="Arial MT"/>
              </a:rPr>
              <a:t>(UET</a:t>
            </a:r>
            <a:r>
              <a:rPr sz="5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>
                <a:solidFill>
                  <a:srgbClr val="FFFFFF"/>
                </a:solidFill>
                <a:latin typeface="Arial MT"/>
                <a:cs typeface="Arial MT"/>
              </a:rPr>
              <a:t>Taxila</a:t>
            </a:r>
            <a:r>
              <a:rPr sz="500" spc="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" b="1" spc="-10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r>
              <a:rPr lang="en-US" sz="5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MindBridge:</a:t>
            </a:r>
            <a:r>
              <a:rPr lang="en-US" sz="500" spc="105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Cross-Subject</a:t>
            </a:r>
            <a:r>
              <a:rPr lang="en-US" sz="500" spc="45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fMRI</a:t>
            </a:r>
            <a:r>
              <a:rPr lang="en-US" sz="500" spc="5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Representation</a:t>
            </a:r>
            <a:r>
              <a:rPr lang="en-US" sz="500" spc="5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en-US" sz="500" spc="-2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Lear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1ED6-875C-4407-C41B-CDB217A38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819" y="566377"/>
            <a:ext cx="1193449" cy="12048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600"/>
              <a:t>Any Question.</a:t>
            </a:r>
          </a:p>
        </p:txBody>
      </p:sp>
      <p:pic>
        <p:nvPicPr>
          <p:cNvPr id="4" name="Picture 3" descr="Yellow question mark">
            <a:extLst>
              <a:ext uri="{FF2B5EF4-FFF2-40B4-BE49-F238E27FC236}">
                <a16:creationId xmlns:a16="http://schemas.microsoft.com/office/drawing/2014/main" id="{E663C4BD-49D3-E2B5-5F28-21083D6B39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98" r="7751" b="2"/>
          <a:stretch>
            <a:fillRect/>
          </a:stretch>
        </p:blipFill>
        <p:spPr>
          <a:xfrm>
            <a:off x="-2116" y="10"/>
            <a:ext cx="2858072" cy="346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4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206</TotalTime>
  <Words>451</Words>
  <Application>Microsoft Office PowerPoint</Application>
  <PresentationFormat>Custom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Gill Sans MT</vt:lpstr>
      <vt:lpstr>Tahoma</vt:lpstr>
      <vt:lpstr>Gallery</vt:lpstr>
      <vt:lpstr>PowerPoint Presentation</vt:lpstr>
      <vt:lpstr>Problem Statement &amp; Motivation</vt:lpstr>
      <vt:lpstr>Phase 1: Synthetic Noise Modeling</vt:lpstr>
      <vt:lpstr>Phase 2: Dataset &amp; Preprocessing</vt:lpstr>
      <vt:lpstr>VAE Representation Learning</vt:lpstr>
      <vt:lpstr>MindBridge: Cyclic Mapping Performance</vt:lpstr>
      <vt:lpstr>Conclusion.</vt:lpstr>
      <vt:lpstr>Any Question.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MindBridge: Cross-Subject fMRI Representation Learning - Synthetic Noise Modeling &amp; Real Movie Analysis</dc:title>
  <dc:creator>Syed Ismael &amp; Munir Hussain</dc:creator>
  <cp:lastModifiedBy>Muneer Hussain</cp:lastModifiedBy>
  <cp:revision>3</cp:revision>
  <dcterms:created xsi:type="dcterms:W3CDTF">2026-02-11T15:49:44Z</dcterms:created>
  <dcterms:modified xsi:type="dcterms:W3CDTF">2026-02-11T21:06:56Z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2026-02-11T00:00:00Z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